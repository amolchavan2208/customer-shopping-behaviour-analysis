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09C3EE-944A-6DBC-9BBC-00AC1A020293}">
          <p14:sldIdLst>
            <p14:sldId id="256"/>
            <p14:sldId id="257"/>
            <p14:sldId id="258"/>
            <p14:sldId id="259"/>
          </p14:sldIdLst>
        </p14:section>
        <p14:section name="Method" id="{67715CC4-01B0-468F-FA5A-92EF19CCC8CE}">
          <p14:sldIdLst>
            <p14:sldId id="260"/>
            <p14:sldId id="261"/>
            <p14:sldId id="262"/>
          </p14:sldIdLst>
        </p14:section>
        <p14:section name="Insights" id="{F3CDD9FD-5DD6-644F-5C8C-9EB206606C0A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8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retail shopping behavior analysis built with Python, SQL Server and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company wants to understand how customers shop so it can improve sales, satisfaction and loyalty.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from understanding behavior to improving loyalty and marketing.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about 3,900 records. The sample table is illustrative, not real customer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and Pandas were used to explore, check and prepare the data before loading it into SQL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Server was used to group and compare data, then turn it into business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layout mock-up of the Power BI dashboard. All numbers on this slide are illustrative placeholders, not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areas the analysis is designed to explore. They are potential insights, not verified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links an analysis input to a business action. These are suggestions to consider, not proven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workflow, mention the future scope, and close with the thank-you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Retail Customer Shopping Behavior Analysis  |  Amol Chavan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8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0"/>
                </a:solidFill>
              </a:rPr>
              <a:t>Retail Customer Shopping Behavior Analysis  |  Amol Chavan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/>
          <p:cNvSpPr txBox="1"/>
          <p:nvPr/>
        </p:nvSpPr>
        <p:spPr>
          <a:xfrm>
            <a:off x="548640" y="548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DATA ANALYTICS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Retail Customer Shopping Behavior Analysis</a:t>
            </a:r>
            <a:endParaRPr lang="en-US" sz="3200" dirty="0"/>
          </a:p>
        </p:txBody>
      </p:sp>
      <p:sp>
        <p:nvSpPr>
          <p:cNvPr id="4" name="text_2"/>
          <p:cNvSpPr txBox="1"/>
          <p:nvPr/>
        </p:nvSpPr>
        <p:spPr>
          <a:xfrm>
            <a:off x="548640" y="24688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F0"/>
                </a:solidFill>
              </a:rPr>
              <a:t>Using Python, SQL, and Power BI to Understand Customer Purchasing Patterns</a:t>
            </a:r>
            <a:endParaRPr lang="en-US" sz="1600" dirty="0"/>
          </a:p>
        </p:txBody>
      </p:sp>
      <p:sp>
        <p:nvSpPr>
          <p:cNvPr id="5" name="text_3"/>
          <p:cNvSpPr txBox="1"/>
          <p:nvPr/>
        </p:nvSpPr>
        <p:spPr>
          <a:xfrm>
            <a:off x="548640" y="3291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2"/>
                </a:solidFill>
              </a:rPr>
              <a:t>Turning Customer Data into Business Insights</a:t>
            </a:r>
            <a:endParaRPr lang="en-US" sz="1600" dirty="0"/>
          </a:p>
        </p:txBody>
      </p:sp>
      <p:sp>
        <p:nvSpPr>
          <p:cNvPr id="6" name="text_4"/>
          <p:cNvSpPr txBox="1"/>
          <p:nvPr/>
        </p:nvSpPr>
        <p:spPr>
          <a:xfrm>
            <a:off x="548640" y="3794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Amol Chavan</a:t>
            </a:r>
            <a:endParaRPr lang="en-US" sz="2000" dirty="0"/>
          </a:p>
        </p:txBody>
      </p:sp>
      <p:sp>
        <p:nvSpPr>
          <p:cNvPr id="7" name="text_5"/>
          <p:cNvSpPr txBox="1"/>
          <p:nvPr/>
        </p:nvSpPr>
        <p:spPr>
          <a:xfrm>
            <a:off x="5486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Python  |  SQL Server  |  Power BI</a:t>
            </a:r>
            <a:endParaRPr lang="en-US" sz="1400" dirty="0"/>
          </a:p>
        </p:txBody>
      </p:sp>
      <p:sp>
        <p:nvSpPr>
          <p:cNvPr id="8" name="text_6"/>
          <p:cNvSpPr txBox="1"/>
          <p:nvPr/>
        </p:nvSpPr>
        <p:spPr>
          <a:xfrm>
            <a:off x="548640" y="48188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Visuals: editable shapes and Font Awesome icons (via react-icons)</a:t>
            </a:r>
            <a:endParaRPr lang="en-US" sz="900" dirty="0"/>
          </a:p>
        </p:txBody>
      </p:sp>
      <p:sp>
        <p:nvSpPr>
          <p:cNvPr id="9" name="shape_7"/>
          <p:cNvSpPr/>
          <p:nvPr/>
        </p:nvSpPr>
        <p:spPr>
          <a:xfrm>
            <a:off x="5394960" y="777240"/>
            <a:ext cx="3291840" cy="361188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/>
        </p:spPr>
      </p:sp>
      <p:sp>
        <p:nvSpPr>
          <p:cNvPr id="10" name="shape_8"/>
          <p:cNvSpPr/>
          <p:nvPr/>
        </p:nvSpPr>
        <p:spPr>
          <a:xfrm>
            <a:off x="5577840" y="1005840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</p:sp>
      <p:pic>
        <p:nvPicPr>
          <p:cNvPr id="11" name="icon_9" descr="Shopp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161288"/>
            <a:ext cx="411480" cy="411480"/>
          </a:xfrm>
          <a:prstGeom prst="rect">
            <a:avLst/>
          </a:prstGeom>
        </p:spPr>
      </p:pic>
      <p:sp>
        <p:nvSpPr>
          <p:cNvPr id="12" name="text_10"/>
          <p:cNvSpPr txBox="1"/>
          <p:nvPr/>
        </p:nvSpPr>
        <p:spPr>
          <a:xfrm>
            <a:off x="5577840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Shopping</a:t>
            </a:r>
            <a:endParaRPr lang="en-US" sz="1200" dirty="0"/>
          </a:p>
        </p:txBody>
      </p:sp>
      <p:sp>
        <p:nvSpPr>
          <p:cNvPr id="13" name="shape_11"/>
          <p:cNvSpPr/>
          <p:nvPr/>
        </p:nvSpPr>
        <p:spPr>
          <a:xfrm>
            <a:off x="7132320" y="1005840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pic>
        <p:nvPicPr>
          <p:cNvPr id="14" name="icon_12" descr="Appare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161288"/>
            <a:ext cx="411480" cy="411480"/>
          </a:xfrm>
          <a:prstGeom prst="rect">
            <a:avLst/>
          </a:prstGeom>
        </p:spPr>
      </p:pic>
      <p:sp>
        <p:nvSpPr>
          <p:cNvPr id="15" name="text_13"/>
          <p:cNvSpPr txBox="1"/>
          <p:nvPr/>
        </p:nvSpPr>
        <p:spPr>
          <a:xfrm>
            <a:off x="7132320" y="1719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Apparel</a:t>
            </a:r>
            <a:endParaRPr lang="en-US" sz="1200" dirty="0"/>
          </a:p>
        </p:txBody>
      </p:sp>
      <p:sp>
        <p:nvSpPr>
          <p:cNvPr id="16" name="shape_14"/>
          <p:cNvSpPr/>
          <p:nvPr/>
        </p:nvSpPr>
        <p:spPr>
          <a:xfrm>
            <a:off x="5577840" y="2286000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pic>
        <p:nvPicPr>
          <p:cNvPr id="17" name="icon_15" descr="Footwe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441448"/>
            <a:ext cx="411480" cy="411480"/>
          </a:xfrm>
          <a:prstGeom prst="rect">
            <a:avLst/>
          </a:prstGeom>
        </p:spPr>
      </p:pic>
      <p:sp>
        <p:nvSpPr>
          <p:cNvPr id="18" name="text_16"/>
          <p:cNvSpPr txBox="1"/>
          <p:nvPr/>
        </p:nvSpPr>
        <p:spPr>
          <a:xfrm>
            <a:off x="5577840" y="2999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Footwear</a:t>
            </a:r>
            <a:endParaRPr lang="en-US" sz="1200" dirty="0"/>
          </a:p>
        </p:txBody>
      </p:sp>
      <p:sp>
        <p:nvSpPr>
          <p:cNvPr id="19" name="shape_17"/>
          <p:cNvSpPr/>
          <p:nvPr/>
        </p:nvSpPr>
        <p:spPr>
          <a:xfrm>
            <a:off x="7132320" y="2286000"/>
            <a:ext cx="141732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</p:sp>
      <p:pic>
        <p:nvPicPr>
          <p:cNvPr id="20" name="icon_18" descr="Accessori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441448"/>
            <a:ext cx="411480" cy="411480"/>
          </a:xfrm>
          <a:prstGeom prst="rect">
            <a:avLst/>
          </a:prstGeom>
        </p:spPr>
      </p:pic>
      <p:sp>
        <p:nvSpPr>
          <p:cNvPr id="21" name="text_19"/>
          <p:cNvSpPr txBox="1"/>
          <p:nvPr/>
        </p:nvSpPr>
        <p:spPr>
          <a:xfrm>
            <a:off x="7132320" y="29992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Accessories</a:t>
            </a:r>
            <a:endParaRPr lang="en-US" sz="1200" dirty="0"/>
          </a:p>
        </p:txBody>
      </p:sp>
      <p:sp>
        <p:nvSpPr>
          <p:cNvPr id="22" name="text_20"/>
          <p:cNvSpPr txBox="1"/>
          <p:nvPr/>
        </p:nvSpPr>
        <p:spPr>
          <a:xfrm>
            <a:off x="5577840" y="34564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</a:rPr>
              <a:t>Dashboard preview (illustrative)</a:t>
            </a:r>
            <a:endParaRPr lang="en-US" sz="1000" dirty="0"/>
          </a:p>
        </p:txBody>
      </p:sp>
      <p:sp>
        <p:nvSpPr>
          <p:cNvPr id="23" name="shape_21"/>
          <p:cNvSpPr/>
          <p:nvPr/>
        </p:nvSpPr>
        <p:spPr>
          <a:xfrm>
            <a:off x="5669280" y="3995928"/>
            <a:ext cx="32004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shape_22"/>
          <p:cNvSpPr/>
          <p:nvPr/>
        </p:nvSpPr>
        <p:spPr>
          <a:xfrm>
            <a:off x="6126480" y="3858768"/>
            <a:ext cx="320040" cy="365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hape_23"/>
          <p:cNvSpPr/>
          <p:nvPr/>
        </p:nvSpPr>
        <p:spPr>
          <a:xfrm>
            <a:off x="6583680" y="3950208"/>
            <a:ext cx="32004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_24"/>
          <p:cNvSpPr/>
          <p:nvPr/>
        </p:nvSpPr>
        <p:spPr>
          <a:xfrm>
            <a:off x="7040880" y="3767328"/>
            <a:ext cx="32004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shape_25"/>
          <p:cNvSpPr/>
          <p:nvPr/>
        </p:nvSpPr>
        <p:spPr>
          <a:xfrm>
            <a:off x="7498080" y="3840480"/>
            <a:ext cx="32004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shape_26"/>
          <p:cNvSpPr/>
          <p:nvPr/>
        </p:nvSpPr>
        <p:spPr>
          <a:xfrm>
            <a:off x="7955280" y="3675888"/>
            <a:ext cx="320040" cy="548640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Business Problem Statement</a:t>
            </a:r>
            <a:endParaRPr lang="en-US" sz="2800" dirty="0"/>
          </a:p>
        </p:txBody>
      </p:sp>
      <p:sp>
        <p:nvSpPr>
          <p:cNvPr id="3" name="shape_27"/>
          <p:cNvSpPr/>
          <p:nvPr/>
        </p:nvSpPr>
        <p:spPr>
          <a:xfrm>
            <a:off x="457200" y="1097280"/>
            <a:ext cx="2926080" cy="3520440"/>
          </a:xfrm>
          <a:prstGeom prst="roundRect">
            <a:avLst>
              <a:gd name="adj" fmla="val 3750"/>
            </a:avLst>
          </a:prstGeom>
          <a:solidFill>
            <a:schemeClr val="tx1"/>
          </a:solidFill>
          <a:ln/>
        </p:spPr>
      </p:sp>
      <p:sp>
        <p:nvSpPr>
          <p:cNvPr id="4" name="shape_28"/>
          <p:cNvSpPr/>
          <p:nvPr/>
        </p:nvSpPr>
        <p:spPr>
          <a:xfrm>
            <a:off x="1234440" y="2103120"/>
            <a:ext cx="1371600" cy="1371600"/>
          </a:xfrm>
          <a:prstGeom prst="ellipse">
            <a:avLst/>
          </a:prstGeom>
          <a:solidFill>
            <a:srgbClr val="0FA3A3"/>
          </a:solidFill>
          <a:ln/>
        </p:spPr>
      </p:sp>
      <p:pic>
        <p:nvPicPr>
          <p:cNvPr id="5" name="icon_29" descr="Shopping ca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514600"/>
            <a:ext cx="548640" cy="548640"/>
          </a:xfrm>
          <a:prstGeom prst="rect">
            <a:avLst/>
          </a:prstGeom>
        </p:spPr>
      </p:pic>
      <p:sp>
        <p:nvSpPr>
          <p:cNvPr id="6" name="shape_30"/>
          <p:cNvSpPr/>
          <p:nvPr/>
        </p:nvSpPr>
        <p:spPr>
          <a:xfrm>
            <a:off x="777240" y="12801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_31" descr="Shopping ba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1455725"/>
            <a:ext cx="380390" cy="380390"/>
          </a:xfrm>
          <a:prstGeom prst="rect">
            <a:avLst/>
          </a:prstGeom>
        </p:spPr>
      </p:pic>
      <p:sp>
        <p:nvSpPr>
          <p:cNvPr id="8" name="shape_32"/>
          <p:cNvSpPr/>
          <p:nvPr/>
        </p:nvSpPr>
        <p:spPr>
          <a:xfrm>
            <a:off x="2331720" y="1280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con_33" descr="Clothing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285" y="1455725"/>
            <a:ext cx="380390" cy="380390"/>
          </a:xfrm>
          <a:prstGeom prst="rect">
            <a:avLst/>
          </a:prstGeom>
        </p:spPr>
      </p:pic>
      <p:sp>
        <p:nvSpPr>
          <p:cNvPr id="10" name="shape_34"/>
          <p:cNvSpPr/>
          <p:nvPr/>
        </p:nvSpPr>
        <p:spPr>
          <a:xfrm>
            <a:off x="1554480" y="36576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_35" descr="Growth char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0045" y="3833165"/>
            <a:ext cx="380390" cy="380390"/>
          </a:xfrm>
          <a:prstGeom prst="rect">
            <a:avLst/>
          </a:prstGeom>
        </p:spPr>
      </p:pic>
      <p:sp>
        <p:nvSpPr>
          <p:cNvPr id="12" name="text_36"/>
          <p:cNvSpPr txBox="1"/>
          <p:nvPr/>
        </p:nvSpPr>
        <p:spPr>
          <a:xfrm>
            <a:off x="3657600" y="1097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retail company wants to grow sales, satisfaction, and loyalty by understanding how its customers shop.</a:t>
            </a:r>
            <a:endParaRPr lang="en-US" sz="1400" dirty="0"/>
          </a:p>
        </p:txBody>
      </p:sp>
      <p:sp>
        <p:nvSpPr>
          <p:cNvPr id="13" name="shape_37"/>
          <p:cNvSpPr/>
          <p:nvPr/>
        </p:nvSpPr>
        <p:spPr>
          <a:xfrm>
            <a:off x="3657600" y="1965960"/>
            <a:ext cx="1600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4" name="shape_38"/>
          <p:cNvSpPr/>
          <p:nvPr/>
        </p:nvSpPr>
        <p:spPr>
          <a:xfrm>
            <a:off x="379476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_39" descr="Understand Custome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488" y="2194560"/>
            <a:ext cx="237744" cy="237744"/>
          </a:xfrm>
          <a:prstGeom prst="rect">
            <a:avLst/>
          </a:prstGeom>
        </p:spPr>
      </p:pic>
      <p:sp>
        <p:nvSpPr>
          <p:cNvPr id="16" name="text_40"/>
          <p:cNvSpPr txBox="1"/>
          <p:nvPr/>
        </p:nvSpPr>
        <p:spPr>
          <a:xfrm>
            <a:off x="379476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Understand Customers</a:t>
            </a:r>
            <a:endParaRPr lang="en-US" sz="1400" dirty="0"/>
          </a:p>
        </p:txBody>
      </p:sp>
      <p:sp>
        <p:nvSpPr>
          <p:cNvPr id="17" name="shape_41"/>
          <p:cNvSpPr/>
          <p:nvPr/>
        </p:nvSpPr>
        <p:spPr>
          <a:xfrm>
            <a:off x="5372100" y="1965960"/>
            <a:ext cx="1600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8" name="shape_42"/>
          <p:cNvSpPr/>
          <p:nvPr/>
        </p:nvSpPr>
        <p:spPr>
          <a:xfrm>
            <a:off x="550926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_43" descr="Identify Purchasing Patter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988" y="2194560"/>
            <a:ext cx="237744" cy="237744"/>
          </a:xfrm>
          <a:prstGeom prst="rect">
            <a:avLst/>
          </a:prstGeom>
        </p:spPr>
      </p:pic>
      <p:sp>
        <p:nvSpPr>
          <p:cNvPr id="20" name="text_44"/>
          <p:cNvSpPr txBox="1"/>
          <p:nvPr/>
        </p:nvSpPr>
        <p:spPr>
          <a:xfrm>
            <a:off x="550926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Identify Purchasing Patterns</a:t>
            </a:r>
            <a:endParaRPr lang="en-US" sz="1400" dirty="0"/>
          </a:p>
        </p:txBody>
      </p:sp>
      <p:sp>
        <p:nvSpPr>
          <p:cNvPr id="21" name="shape_45"/>
          <p:cNvSpPr/>
          <p:nvPr/>
        </p:nvSpPr>
        <p:spPr>
          <a:xfrm>
            <a:off x="7086600" y="1965960"/>
            <a:ext cx="160020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2" name="shape_46"/>
          <p:cNvSpPr/>
          <p:nvPr/>
        </p:nvSpPr>
        <p:spPr>
          <a:xfrm>
            <a:off x="7223760" y="20848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_47" descr="Improve Business Decis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2194560"/>
            <a:ext cx="237744" cy="237744"/>
          </a:xfrm>
          <a:prstGeom prst="rect">
            <a:avLst/>
          </a:prstGeom>
        </p:spPr>
      </p:pic>
      <p:sp>
        <p:nvSpPr>
          <p:cNvPr id="24" name="text_48"/>
          <p:cNvSpPr txBox="1"/>
          <p:nvPr/>
        </p:nvSpPr>
        <p:spPr>
          <a:xfrm>
            <a:off x="722376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Improve Business Decisions</a:t>
            </a:r>
            <a:endParaRPr lang="en-US" sz="1400" dirty="0"/>
          </a:p>
        </p:txBody>
      </p:sp>
      <p:sp>
        <p:nvSpPr>
          <p:cNvPr id="25" name="shape_49"/>
          <p:cNvSpPr/>
          <p:nvPr/>
        </p:nvSpPr>
        <p:spPr>
          <a:xfrm>
            <a:off x="3657600" y="338328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D9F0F0"/>
          </a:solidFill>
          <a:ln/>
        </p:spPr>
      </p:sp>
      <p:sp>
        <p:nvSpPr>
          <p:cNvPr id="26" name="text_50"/>
          <p:cNvSpPr txBox="1"/>
          <p:nvPr/>
        </p:nvSpPr>
        <p:spPr>
          <a:xfrm>
            <a:off x="3840480" y="34930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7C7C"/>
                </a:solidFill>
              </a:rPr>
              <a:t>KEY BUSINESS QUESTION</a:t>
            </a:r>
            <a:endParaRPr lang="en-US" sz="1100" dirty="0"/>
          </a:p>
        </p:txBody>
      </p:sp>
      <p:sp>
        <p:nvSpPr>
          <p:cNvPr id="27" name="text_51"/>
          <p:cNvSpPr txBox="1"/>
          <p:nvPr/>
        </p:nvSpPr>
        <p:spPr>
          <a:xfrm>
            <a:off x="3840480" y="3749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“How can the company use customer shopping data to understand buying behavior, improve customer engagement, and develop better marketing and product strategies?”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3" name="shape_52"/>
          <p:cNvSpPr/>
          <p:nvPr/>
        </p:nvSpPr>
        <p:spPr>
          <a:xfrm>
            <a:off x="45720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" name="shape_53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54" descr="Customer Behavi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400861"/>
            <a:ext cx="261518" cy="261518"/>
          </a:xfrm>
          <a:prstGeom prst="rect">
            <a:avLst/>
          </a:prstGeom>
        </p:spPr>
      </p:pic>
      <p:sp>
        <p:nvSpPr>
          <p:cNvPr id="6" name="text_55"/>
          <p:cNvSpPr txBox="1"/>
          <p:nvPr/>
        </p:nvSpPr>
        <p:spPr>
          <a:xfrm>
            <a:off x="640080" y="1892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Behavior</a:t>
            </a:r>
            <a:endParaRPr lang="en-US" sz="1600" dirty="0"/>
          </a:p>
        </p:txBody>
      </p:sp>
      <p:sp>
        <p:nvSpPr>
          <p:cNvPr id="7" name="text_56"/>
          <p:cNvSpPr txBox="1"/>
          <p:nvPr/>
        </p:nvSpPr>
        <p:spPr>
          <a:xfrm>
            <a:off x="640080" y="2221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Understand how customers shop and buy.</a:t>
            </a:r>
            <a:endParaRPr lang="en-US" sz="1400" dirty="0"/>
          </a:p>
        </p:txBody>
      </p:sp>
      <p:sp>
        <p:nvSpPr>
          <p:cNvPr id="8" name="shape_57"/>
          <p:cNvSpPr/>
          <p:nvPr/>
        </p:nvSpPr>
        <p:spPr>
          <a:xfrm>
            <a:off x="326898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9" name="shape_58"/>
          <p:cNvSpPr/>
          <p:nvPr/>
        </p:nvSpPr>
        <p:spPr>
          <a:xfrm>
            <a:off x="3451860" y="1280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_59" descr="Product Popular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561" y="1400861"/>
            <a:ext cx="261518" cy="261518"/>
          </a:xfrm>
          <a:prstGeom prst="rect">
            <a:avLst/>
          </a:prstGeom>
        </p:spPr>
      </p:pic>
      <p:sp>
        <p:nvSpPr>
          <p:cNvPr id="11" name="text_60"/>
          <p:cNvSpPr txBox="1"/>
          <p:nvPr/>
        </p:nvSpPr>
        <p:spPr>
          <a:xfrm>
            <a:off x="3451860" y="1892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Popularity</a:t>
            </a:r>
            <a:endParaRPr lang="en-US" sz="1600" dirty="0"/>
          </a:p>
        </p:txBody>
      </p:sp>
      <p:sp>
        <p:nvSpPr>
          <p:cNvPr id="12" name="text_61"/>
          <p:cNvSpPr txBox="1"/>
          <p:nvPr/>
        </p:nvSpPr>
        <p:spPr>
          <a:xfrm>
            <a:off x="3451860" y="2221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 popular products and categories.</a:t>
            </a:r>
            <a:endParaRPr lang="en-US" sz="1400" dirty="0"/>
          </a:p>
        </p:txBody>
      </p:sp>
      <p:sp>
        <p:nvSpPr>
          <p:cNvPr id="13" name="shape_62"/>
          <p:cNvSpPr/>
          <p:nvPr/>
        </p:nvSpPr>
        <p:spPr>
          <a:xfrm>
            <a:off x="608076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4" name="shape_63"/>
          <p:cNvSpPr/>
          <p:nvPr/>
        </p:nvSpPr>
        <p:spPr>
          <a:xfrm>
            <a:off x="6263640" y="1280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_64" descr="Discount Us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341" y="1400861"/>
            <a:ext cx="261518" cy="261518"/>
          </a:xfrm>
          <a:prstGeom prst="rect">
            <a:avLst/>
          </a:prstGeom>
        </p:spPr>
      </p:pic>
      <p:sp>
        <p:nvSpPr>
          <p:cNvPr id="16" name="text_65"/>
          <p:cNvSpPr txBox="1"/>
          <p:nvPr/>
        </p:nvSpPr>
        <p:spPr>
          <a:xfrm>
            <a:off x="6263640" y="1892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Discount Usage</a:t>
            </a:r>
            <a:endParaRPr lang="en-US" sz="1600" dirty="0"/>
          </a:p>
        </p:txBody>
      </p:sp>
      <p:sp>
        <p:nvSpPr>
          <p:cNvPr id="17" name="text_66"/>
          <p:cNvSpPr txBox="1"/>
          <p:nvPr/>
        </p:nvSpPr>
        <p:spPr>
          <a:xfrm>
            <a:off x="6263640" y="22219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Analyze discounts and promo codes.</a:t>
            </a:r>
            <a:endParaRPr lang="en-US" sz="1400" dirty="0"/>
          </a:p>
        </p:txBody>
      </p:sp>
      <p:sp>
        <p:nvSpPr>
          <p:cNvPr id="18" name="shape_67"/>
          <p:cNvSpPr/>
          <p:nvPr/>
        </p:nvSpPr>
        <p:spPr>
          <a:xfrm>
            <a:off x="457200" y="292608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9" name="shape_68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_69" descr="Ratings &amp; Paymen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3229661"/>
            <a:ext cx="261518" cy="261518"/>
          </a:xfrm>
          <a:prstGeom prst="rect">
            <a:avLst/>
          </a:prstGeom>
        </p:spPr>
      </p:pic>
      <p:sp>
        <p:nvSpPr>
          <p:cNvPr id="21" name="shape_70"/>
          <p:cNvSpPr/>
          <p:nvPr/>
        </p:nvSpPr>
        <p:spPr>
          <a:xfrm>
            <a:off x="123444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_71" descr="Payment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5141" y="3229661"/>
            <a:ext cx="261518" cy="261518"/>
          </a:xfrm>
          <a:prstGeom prst="rect">
            <a:avLst/>
          </a:prstGeom>
        </p:spPr>
      </p:pic>
      <p:sp>
        <p:nvSpPr>
          <p:cNvPr id="23" name="text_72"/>
          <p:cNvSpPr txBox="1"/>
          <p:nvPr/>
        </p:nvSpPr>
        <p:spPr>
          <a:xfrm>
            <a:off x="64008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Ratings &amp; Payments</a:t>
            </a:r>
            <a:endParaRPr lang="en-US" sz="1600" dirty="0"/>
          </a:p>
        </p:txBody>
      </p:sp>
      <p:sp>
        <p:nvSpPr>
          <p:cNvPr id="24" name="text_73"/>
          <p:cNvSpPr txBox="1"/>
          <p:nvPr/>
        </p:nvSpPr>
        <p:spPr>
          <a:xfrm>
            <a:off x="640080" y="4050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Explore reviews and payment choices.</a:t>
            </a:r>
            <a:endParaRPr lang="en-US" sz="1400" dirty="0"/>
          </a:p>
        </p:txBody>
      </p:sp>
      <p:sp>
        <p:nvSpPr>
          <p:cNvPr id="25" name="shape_74"/>
          <p:cNvSpPr/>
          <p:nvPr/>
        </p:nvSpPr>
        <p:spPr>
          <a:xfrm>
            <a:off x="3268980" y="292608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6" name="shape_75"/>
          <p:cNvSpPr/>
          <p:nvPr/>
        </p:nvSpPr>
        <p:spPr>
          <a:xfrm>
            <a:off x="345186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_76" descr="Repeat Purchas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2561" y="3229661"/>
            <a:ext cx="261518" cy="261518"/>
          </a:xfrm>
          <a:prstGeom prst="rect">
            <a:avLst/>
          </a:prstGeom>
        </p:spPr>
      </p:pic>
      <p:sp>
        <p:nvSpPr>
          <p:cNvPr id="28" name="text_77"/>
          <p:cNvSpPr txBox="1"/>
          <p:nvPr/>
        </p:nvSpPr>
        <p:spPr>
          <a:xfrm>
            <a:off x="345186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Repeat Purchases</a:t>
            </a:r>
            <a:endParaRPr lang="en-US" sz="1600" dirty="0"/>
          </a:p>
        </p:txBody>
      </p:sp>
      <p:sp>
        <p:nvSpPr>
          <p:cNvPr id="29" name="text_78"/>
          <p:cNvSpPr txBox="1"/>
          <p:nvPr/>
        </p:nvSpPr>
        <p:spPr>
          <a:xfrm>
            <a:off x="3451860" y="4050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Study previous purchases and repeat buying.</a:t>
            </a:r>
            <a:endParaRPr lang="en-US" sz="1400" dirty="0"/>
          </a:p>
        </p:txBody>
      </p:sp>
      <p:sp>
        <p:nvSpPr>
          <p:cNvPr id="30" name="shape_79"/>
          <p:cNvSpPr/>
          <p:nvPr/>
        </p:nvSpPr>
        <p:spPr>
          <a:xfrm>
            <a:off x="6080760" y="2926080"/>
            <a:ext cx="26060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31" name="shape_80"/>
          <p:cNvSpPr/>
          <p:nvPr/>
        </p:nvSpPr>
        <p:spPr>
          <a:xfrm>
            <a:off x="6263640" y="31089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con_81" descr="Loyalty &amp; Market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4341" y="3229661"/>
            <a:ext cx="261518" cy="261518"/>
          </a:xfrm>
          <a:prstGeom prst="rect">
            <a:avLst/>
          </a:prstGeom>
        </p:spPr>
      </p:pic>
      <p:sp>
        <p:nvSpPr>
          <p:cNvPr id="33" name="text_82"/>
          <p:cNvSpPr txBox="1"/>
          <p:nvPr/>
        </p:nvSpPr>
        <p:spPr>
          <a:xfrm>
            <a:off x="626364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Loyalty &amp; Marketing</a:t>
            </a:r>
            <a:endParaRPr lang="en-US" sz="1600" dirty="0"/>
          </a:p>
        </p:txBody>
      </p:sp>
      <p:sp>
        <p:nvSpPr>
          <p:cNvPr id="34" name="text_83"/>
          <p:cNvSpPr txBox="1"/>
          <p:nvPr/>
        </p:nvSpPr>
        <p:spPr>
          <a:xfrm>
            <a:off x="6263640" y="4050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Spot ways to improve loyalty and marketing.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3" name="shape_84"/>
          <p:cNvSpPr/>
          <p:nvPr/>
        </p:nvSpPr>
        <p:spPr>
          <a:xfrm>
            <a:off x="457200" y="109728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shape_85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_86" descr="~3,9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446581"/>
            <a:ext cx="261518" cy="261518"/>
          </a:xfrm>
          <a:prstGeom prst="rect">
            <a:avLst/>
          </a:prstGeom>
        </p:spPr>
      </p:pic>
      <p:sp>
        <p:nvSpPr>
          <p:cNvPr id="6" name="text_87"/>
          <p:cNvSpPr txBox="1"/>
          <p:nvPr/>
        </p:nvSpPr>
        <p:spPr>
          <a:xfrm>
            <a:off x="1188720" y="12801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~3,900</a:t>
            </a:r>
            <a:endParaRPr lang="en-US" sz="2000" dirty="0"/>
          </a:p>
        </p:txBody>
      </p:sp>
      <p:sp>
        <p:nvSpPr>
          <p:cNvPr id="7" name="text_88"/>
          <p:cNvSpPr txBox="1"/>
          <p:nvPr/>
        </p:nvSpPr>
        <p:spPr>
          <a:xfrm>
            <a:off x="1188720" y="1627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records</a:t>
            </a:r>
            <a:endParaRPr lang="en-US" sz="1200" dirty="0"/>
          </a:p>
        </p:txBody>
      </p:sp>
      <p:sp>
        <p:nvSpPr>
          <p:cNvPr id="8" name="shape_89"/>
          <p:cNvSpPr/>
          <p:nvPr/>
        </p:nvSpPr>
        <p:spPr>
          <a:xfrm>
            <a:off x="2560320" y="109728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9" name="shape_90"/>
          <p:cNvSpPr/>
          <p:nvPr/>
        </p:nvSpPr>
        <p:spPr>
          <a:xfrm>
            <a:off x="269748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91" descr="Custom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181" y="1446581"/>
            <a:ext cx="261518" cy="261518"/>
          </a:xfrm>
          <a:prstGeom prst="rect">
            <a:avLst/>
          </a:prstGeom>
        </p:spPr>
      </p:pic>
      <p:sp>
        <p:nvSpPr>
          <p:cNvPr id="11" name="text_92"/>
          <p:cNvSpPr txBox="1"/>
          <p:nvPr/>
        </p:nvSpPr>
        <p:spPr>
          <a:xfrm>
            <a:off x="3291840" y="12801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Customers</a:t>
            </a:r>
            <a:endParaRPr lang="en-US" sz="2000" dirty="0"/>
          </a:p>
        </p:txBody>
      </p:sp>
      <p:sp>
        <p:nvSpPr>
          <p:cNvPr id="12" name="text_93"/>
          <p:cNvSpPr txBox="1"/>
          <p:nvPr/>
        </p:nvSpPr>
        <p:spPr>
          <a:xfrm>
            <a:off x="3291840" y="1627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13" name="shape_94"/>
          <p:cNvSpPr/>
          <p:nvPr/>
        </p:nvSpPr>
        <p:spPr>
          <a:xfrm>
            <a:off x="4663440" y="109728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4" name="shape_95"/>
          <p:cNvSpPr/>
          <p:nvPr/>
        </p:nvSpPr>
        <p:spPr>
          <a:xfrm>
            <a:off x="480060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_96" descr="Produc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301" y="1446581"/>
            <a:ext cx="261518" cy="261518"/>
          </a:xfrm>
          <a:prstGeom prst="rect">
            <a:avLst/>
          </a:prstGeom>
        </p:spPr>
      </p:pic>
      <p:sp>
        <p:nvSpPr>
          <p:cNvPr id="16" name="text_97"/>
          <p:cNvSpPr txBox="1"/>
          <p:nvPr/>
        </p:nvSpPr>
        <p:spPr>
          <a:xfrm>
            <a:off x="5394960" y="12801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Products</a:t>
            </a:r>
            <a:endParaRPr lang="en-US" sz="2000" dirty="0"/>
          </a:p>
        </p:txBody>
      </p:sp>
      <p:sp>
        <p:nvSpPr>
          <p:cNvPr id="17" name="text_98"/>
          <p:cNvSpPr txBox="1"/>
          <p:nvPr/>
        </p:nvSpPr>
        <p:spPr>
          <a:xfrm>
            <a:off x="5394960" y="1627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and categories</a:t>
            </a:r>
            <a:endParaRPr lang="en-US" sz="1200" dirty="0"/>
          </a:p>
        </p:txBody>
      </p:sp>
      <p:sp>
        <p:nvSpPr>
          <p:cNvPr id="18" name="shape_99"/>
          <p:cNvSpPr/>
          <p:nvPr/>
        </p:nvSpPr>
        <p:spPr>
          <a:xfrm>
            <a:off x="6766560" y="1097280"/>
            <a:ext cx="192024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9" name="shape_100"/>
          <p:cNvSpPr/>
          <p:nvPr/>
        </p:nvSpPr>
        <p:spPr>
          <a:xfrm>
            <a:off x="690372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_101" descr="Discoun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421" y="1446581"/>
            <a:ext cx="261518" cy="261518"/>
          </a:xfrm>
          <a:prstGeom prst="rect">
            <a:avLst/>
          </a:prstGeom>
        </p:spPr>
      </p:pic>
      <p:sp>
        <p:nvSpPr>
          <p:cNvPr id="21" name="text_102"/>
          <p:cNvSpPr txBox="1"/>
          <p:nvPr/>
        </p:nvSpPr>
        <p:spPr>
          <a:xfrm>
            <a:off x="7498080" y="12801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Discounts</a:t>
            </a:r>
            <a:endParaRPr lang="en-US" sz="2000" dirty="0"/>
          </a:p>
        </p:txBody>
      </p:sp>
      <p:sp>
        <p:nvSpPr>
          <p:cNvPr id="22" name="text_103"/>
          <p:cNvSpPr txBox="1"/>
          <p:nvPr/>
        </p:nvSpPr>
        <p:spPr>
          <a:xfrm>
            <a:off x="7498080" y="1627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and promo codes</a:t>
            </a:r>
            <a:endParaRPr lang="en-US" sz="1200" dirty="0"/>
          </a:p>
        </p:txBody>
      </p:sp>
      <p:sp>
        <p:nvSpPr>
          <p:cNvPr id="23" name="shape_104"/>
          <p:cNvSpPr/>
          <p:nvPr/>
        </p:nvSpPr>
        <p:spPr>
          <a:xfrm>
            <a:off x="457200" y="2286000"/>
            <a:ext cx="3200400" cy="2331720"/>
          </a:xfrm>
          <a:prstGeom prst="roundRect">
            <a:avLst>
              <a:gd name="adj" fmla="val 3922"/>
            </a:avLst>
          </a:prstGeom>
          <a:solidFill>
            <a:schemeClr val="bg2"/>
          </a:solidFill>
          <a:ln/>
        </p:spPr>
      </p:sp>
      <p:sp>
        <p:nvSpPr>
          <p:cNvPr id="24" name="text_105"/>
          <p:cNvSpPr txBox="1"/>
          <p:nvPr/>
        </p:nvSpPr>
        <p:spPr>
          <a:xfrm>
            <a:off x="640080" y="2377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Fields in the dataset</a:t>
            </a:r>
            <a:endParaRPr lang="en-US" sz="1400" dirty="0"/>
          </a:p>
        </p:txBody>
      </p:sp>
      <p:sp>
        <p:nvSpPr>
          <p:cNvPr id="25" name="shape_106"/>
          <p:cNvSpPr/>
          <p:nvPr/>
        </p:nvSpPr>
        <p:spPr>
          <a:xfrm>
            <a:off x="548640" y="27249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26" name="text_107"/>
          <p:cNvSpPr txBox="1"/>
          <p:nvPr/>
        </p:nvSpPr>
        <p:spPr>
          <a:xfrm>
            <a:off x="594360" y="27249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Purchase amounts</a:t>
            </a:r>
            <a:endParaRPr lang="en-US" sz="1100" dirty="0"/>
          </a:p>
        </p:txBody>
      </p:sp>
      <p:sp>
        <p:nvSpPr>
          <p:cNvPr id="27" name="shape_108"/>
          <p:cNvSpPr/>
          <p:nvPr/>
        </p:nvSpPr>
        <p:spPr>
          <a:xfrm>
            <a:off x="2103120" y="27249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28" name="text_109"/>
          <p:cNvSpPr txBox="1"/>
          <p:nvPr/>
        </p:nvSpPr>
        <p:spPr>
          <a:xfrm>
            <a:off x="2148840" y="27249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Ratings</a:t>
            </a:r>
            <a:endParaRPr lang="en-US" sz="1100" dirty="0"/>
          </a:p>
        </p:txBody>
      </p:sp>
      <p:sp>
        <p:nvSpPr>
          <p:cNvPr id="29" name="shape_110"/>
          <p:cNvSpPr/>
          <p:nvPr/>
        </p:nvSpPr>
        <p:spPr>
          <a:xfrm>
            <a:off x="548640" y="31821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30" name="text_111"/>
          <p:cNvSpPr txBox="1"/>
          <p:nvPr/>
        </p:nvSpPr>
        <p:spPr>
          <a:xfrm>
            <a:off x="594360" y="3182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Subscription status</a:t>
            </a:r>
            <a:endParaRPr lang="en-US" sz="1100" dirty="0"/>
          </a:p>
        </p:txBody>
      </p:sp>
      <p:sp>
        <p:nvSpPr>
          <p:cNvPr id="31" name="shape_112"/>
          <p:cNvSpPr/>
          <p:nvPr/>
        </p:nvSpPr>
        <p:spPr>
          <a:xfrm>
            <a:off x="2103120" y="31821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32" name="text_113"/>
          <p:cNvSpPr txBox="1"/>
          <p:nvPr/>
        </p:nvSpPr>
        <p:spPr>
          <a:xfrm>
            <a:off x="2148840" y="3182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Shipping &amp; payment</a:t>
            </a:r>
            <a:endParaRPr lang="en-US" sz="1100" dirty="0"/>
          </a:p>
        </p:txBody>
      </p:sp>
      <p:sp>
        <p:nvSpPr>
          <p:cNvPr id="33" name="shape_114"/>
          <p:cNvSpPr/>
          <p:nvPr/>
        </p:nvSpPr>
        <p:spPr>
          <a:xfrm>
            <a:off x="548640" y="36393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34" name="text_115"/>
          <p:cNvSpPr txBox="1"/>
          <p:nvPr/>
        </p:nvSpPr>
        <p:spPr>
          <a:xfrm>
            <a:off x="594360" y="36393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Previous purchases &amp; frequency</a:t>
            </a:r>
            <a:endParaRPr lang="en-US" sz="1100" dirty="0"/>
          </a:p>
        </p:txBody>
      </p:sp>
      <p:sp>
        <p:nvSpPr>
          <p:cNvPr id="35" name="shape_116"/>
          <p:cNvSpPr/>
          <p:nvPr/>
        </p:nvSpPr>
        <p:spPr>
          <a:xfrm>
            <a:off x="2103120" y="36393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36" name="text_117"/>
          <p:cNvSpPr txBox="1"/>
          <p:nvPr/>
        </p:nvSpPr>
        <p:spPr>
          <a:xfrm>
            <a:off x="2148840" y="36393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Discounts &amp; promo codes</a:t>
            </a:r>
            <a:endParaRPr lang="en-US" sz="1100" dirty="0"/>
          </a:p>
        </p:txBody>
      </p:sp>
      <p:sp>
        <p:nvSpPr>
          <p:cNvPr id="37" name="shape_118"/>
          <p:cNvSpPr/>
          <p:nvPr/>
        </p:nvSpPr>
        <p:spPr>
          <a:xfrm>
            <a:off x="548640" y="40965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38" name="text_119"/>
          <p:cNvSpPr txBox="1"/>
          <p:nvPr/>
        </p:nvSpPr>
        <p:spPr>
          <a:xfrm>
            <a:off x="594360" y="4096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Size, color &amp; season</a:t>
            </a:r>
            <a:endParaRPr lang="en-US" sz="1100" dirty="0"/>
          </a:p>
        </p:txBody>
      </p:sp>
      <p:sp>
        <p:nvSpPr>
          <p:cNvPr id="39" name="shape_120"/>
          <p:cNvSpPr/>
          <p:nvPr/>
        </p:nvSpPr>
        <p:spPr>
          <a:xfrm>
            <a:off x="2103120" y="4096512"/>
            <a:ext cx="146304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</p:sp>
      <p:sp>
        <p:nvSpPr>
          <p:cNvPr id="40" name="text_121"/>
          <p:cNvSpPr txBox="1"/>
          <p:nvPr/>
        </p:nvSpPr>
        <p:spPr>
          <a:xfrm>
            <a:off x="2148840" y="4096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Age, gender &amp; location</a:t>
            </a:r>
            <a:endParaRPr lang="en-US" sz="1100" dirty="0"/>
          </a:p>
        </p:txBody>
      </p:sp>
      <p:sp>
        <p:nvSpPr>
          <p:cNvPr id="41" name="text_122"/>
          <p:cNvSpPr txBox="1"/>
          <p:nvPr/>
        </p:nvSpPr>
        <p:spPr>
          <a:xfrm>
            <a:off x="3840480" y="2286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Sample view (illustrative)</a:t>
            </a:r>
            <a:endParaRPr lang="en-US" sz="1400" dirty="0"/>
          </a:p>
        </p:txBody>
      </p:sp>
      <p:graphicFrame>
        <p:nvGraphicFramePr>
          <p:cNvPr id="42" name="sample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2651760"/>
          <a:ext cx="4846320" cy="8686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Customer ID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Purchase Amount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Season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Subscription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Illustrative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Illustrative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Clothing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Illustrative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Winter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Illustrative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Illustrative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Accessories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Illustrative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Summer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1F3A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50800" marR="50800" marT="38100" marB="38100">
                    <a:lnL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text_123"/>
          <p:cNvSpPr txBox="1"/>
          <p:nvPr/>
        </p:nvSpPr>
        <p:spPr>
          <a:xfrm>
            <a:off x="384048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Illustrative values only – not actual customer records.</a:t>
            </a:r>
            <a:endParaRPr lang="en-US" sz="12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Data Cleaning and Preparation – Python</a:t>
            </a:r>
            <a:endParaRPr lang="en-US" sz="2800" dirty="0"/>
          </a:p>
        </p:txBody>
      </p:sp>
      <p:sp>
        <p:nvSpPr>
          <p:cNvPr id="3" name="shape_124"/>
          <p:cNvSpPr/>
          <p:nvPr/>
        </p:nvSpPr>
        <p:spPr>
          <a:xfrm>
            <a:off x="457200" y="1097280"/>
            <a:ext cx="1463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hape_125"/>
          <p:cNvSpPr/>
          <p:nvPr/>
        </p:nvSpPr>
        <p:spPr>
          <a:xfrm>
            <a:off x="9144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126" descr="Raw Datas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1411834"/>
            <a:ext cx="285293" cy="285293"/>
          </a:xfrm>
          <a:prstGeom prst="rect">
            <a:avLst/>
          </a:prstGeom>
        </p:spPr>
      </p:pic>
      <p:sp>
        <p:nvSpPr>
          <p:cNvPr id="6" name="text_127"/>
          <p:cNvSpPr txBox="1"/>
          <p:nvPr/>
        </p:nvSpPr>
        <p:spPr>
          <a:xfrm>
            <a:off x="54864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Raw Dataset</a:t>
            </a:r>
            <a:endParaRPr lang="en-US" sz="1400" dirty="0"/>
          </a:p>
        </p:txBody>
      </p:sp>
      <p:pic>
        <p:nvPicPr>
          <p:cNvPr id="7" name="icon_128" descr="Arr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816" y="1719072"/>
            <a:ext cx="182880" cy="182880"/>
          </a:xfrm>
          <a:prstGeom prst="rect">
            <a:avLst/>
          </a:prstGeom>
        </p:spPr>
      </p:pic>
      <p:sp>
        <p:nvSpPr>
          <p:cNvPr id="8" name="shape_129"/>
          <p:cNvSpPr/>
          <p:nvPr/>
        </p:nvSpPr>
        <p:spPr>
          <a:xfrm>
            <a:off x="2148840" y="1097280"/>
            <a:ext cx="1463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hape_130"/>
          <p:cNvSpPr/>
          <p:nvPr/>
        </p:nvSpPr>
        <p:spPr>
          <a:xfrm>
            <a:off x="260604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_131" descr="Data Explo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7714" y="1411834"/>
            <a:ext cx="285293" cy="285293"/>
          </a:xfrm>
          <a:prstGeom prst="rect">
            <a:avLst/>
          </a:prstGeom>
        </p:spPr>
      </p:pic>
      <p:sp>
        <p:nvSpPr>
          <p:cNvPr id="11" name="text_132"/>
          <p:cNvSpPr txBox="1"/>
          <p:nvPr/>
        </p:nvSpPr>
        <p:spPr>
          <a:xfrm>
            <a:off x="224028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Exploration</a:t>
            </a:r>
            <a:endParaRPr lang="en-US" sz="1400" dirty="0"/>
          </a:p>
        </p:txBody>
      </p:sp>
      <p:pic>
        <p:nvPicPr>
          <p:cNvPr id="12" name="icon_133" descr="Arr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719072"/>
            <a:ext cx="182880" cy="182880"/>
          </a:xfrm>
          <a:prstGeom prst="rect">
            <a:avLst/>
          </a:prstGeom>
        </p:spPr>
      </p:pic>
      <p:sp>
        <p:nvSpPr>
          <p:cNvPr id="13" name="shape_134"/>
          <p:cNvSpPr/>
          <p:nvPr/>
        </p:nvSpPr>
        <p:spPr>
          <a:xfrm>
            <a:off x="3840480" y="1097280"/>
            <a:ext cx="1463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hape_135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_136" descr="Data Quality Chec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354" y="1411834"/>
            <a:ext cx="285293" cy="285293"/>
          </a:xfrm>
          <a:prstGeom prst="rect">
            <a:avLst/>
          </a:prstGeom>
        </p:spPr>
      </p:pic>
      <p:sp>
        <p:nvSpPr>
          <p:cNvPr id="16" name="text_137"/>
          <p:cNvSpPr txBox="1"/>
          <p:nvPr/>
        </p:nvSpPr>
        <p:spPr>
          <a:xfrm>
            <a:off x="393192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Quality Checks</a:t>
            </a:r>
            <a:endParaRPr lang="en-US" sz="1400" dirty="0"/>
          </a:p>
        </p:txBody>
      </p:sp>
      <p:pic>
        <p:nvPicPr>
          <p:cNvPr id="17" name="icon_138" descr="Arr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1719072"/>
            <a:ext cx="182880" cy="182880"/>
          </a:xfrm>
          <a:prstGeom prst="rect">
            <a:avLst/>
          </a:prstGeom>
        </p:spPr>
      </p:pic>
      <p:sp>
        <p:nvSpPr>
          <p:cNvPr id="18" name="shape_139"/>
          <p:cNvSpPr/>
          <p:nvPr/>
        </p:nvSpPr>
        <p:spPr>
          <a:xfrm>
            <a:off x="5532120" y="1097280"/>
            <a:ext cx="1463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hape_140"/>
          <p:cNvSpPr/>
          <p:nvPr/>
        </p:nvSpPr>
        <p:spPr>
          <a:xfrm>
            <a:off x="598932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_141" descr="Data Prepar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994" y="1411834"/>
            <a:ext cx="285293" cy="285293"/>
          </a:xfrm>
          <a:prstGeom prst="rect">
            <a:avLst/>
          </a:prstGeom>
        </p:spPr>
      </p:pic>
      <p:sp>
        <p:nvSpPr>
          <p:cNvPr id="21" name="text_142"/>
          <p:cNvSpPr txBox="1"/>
          <p:nvPr/>
        </p:nvSpPr>
        <p:spPr>
          <a:xfrm>
            <a:off x="562356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Preparation</a:t>
            </a:r>
            <a:endParaRPr lang="en-US" sz="1400" dirty="0"/>
          </a:p>
        </p:txBody>
      </p:sp>
      <p:pic>
        <p:nvPicPr>
          <p:cNvPr id="22" name="icon_143" descr="Arr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1719072"/>
            <a:ext cx="182880" cy="182880"/>
          </a:xfrm>
          <a:prstGeom prst="rect">
            <a:avLst/>
          </a:prstGeom>
        </p:spPr>
      </p:pic>
      <p:sp>
        <p:nvSpPr>
          <p:cNvPr id="23" name="shape_144"/>
          <p:cNvSpPr/>
          <p:nvPr/>
        </p:nvSpPr>
        <p:spPr>
          <a:xfrm>
            <a:off x="7223760" y="1097280"/>
            <a:ext cx="1463040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/>
        </p:spPr>
      </p:sp>
      <p:sp>
        <p:nvSpPr>
          <p:cNvPr id="24" name="shape_145"/>
          <p:cNvSpPr/>
          <p:nvPr/>
        </p:nvSpPr>
        <p:spPr>
          <a:xfrm>
            <a:off x="7680960" y="1280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icon_146" descr="SQL Serv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2634" y="1411834"/>
            <a:ext cx="285293" cy="285293"/>
          </a:xfrm>
          <a:prstGeom prst="rect">
            <a:avLst/>
          </a:prstGeom>
        </p:spPr>
      </p:pic>
      <p:sp>
        <p:nvSpPr>
          <p:cNvPr id="26" name="text_147"/>
          <p:cNvSpPr txBox="1"/>
          <p:nvPr/>
        </p:nvSpPr>
        <p:spPr>
          <a:xfrm>
            <a:off x="7315200" y="19385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27" name="shape_148"/>
          <p:cNvSpPr/>
          <p:nvPr/>
        </p:nvSpPr>
        <p:spPr>
          <a:xfrm>
            <a:off x="457200" y="2743200"/>
            <a:ext cx="539496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28" name="text_149"/>
          <p:cNvSpPr txBox="1"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we did in Python</a:t>
            </a:r>
            <a:endParaRPr lang="en-US" sz="1600" dirty="0"/>
          </a:p>
        </p:txBody>
      </p:sp>
      <p:sp>
        <p:nvSpPr>
          <p:cNvPr id="29" name="text_150"/>
          <p:cNvSpPr txBox="1"/>
          <p:nvPr/>
        </p:nvSpPr>
        <p:spPr>
          <a:xfrm>
            <a:off x="640080" y="317296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Loaded and explored the data with Python and Pandas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Checked missing values and duplicate records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Reviewed column data types and consistency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Prepared the dataset for analysis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Loaded the prepared data into SQL Server</a:t>
            </a:r>
            <a:endParaRPr lang="en-US" sz="1400" dirty="0"/>
          </a:p>
        </p:txBody>
      </p:sp>
      <p:sp>
        <p:nvSpPr>
          <p:cNvPr id="30" name="shape_151"/>
          <p:cNvSpPr/>
          <p:nvPr/>
        </p:nvSpPr>
        <p:spPr>
          <a:xfrm>
            <a:off x="6035040" y="2743200"/>
            <a:ext cx="2651760" cy="1874520"/>
          </a:xfrm>
          <a:prstGeom prst="roundRect">
            <a:avLst>
              <a:gd name="adj" fmla="val 4878"/>
            </a:avLst>
          </a:prstGeom>
          <a:solidFill>
            <a:schemeClr val="tx1"/>
          </a:solidFill>
          <a:ln/>
        </p:spPr>
      </p:sp>
      <p:sp>
        <p:nvSpPr>
          <p:cNvPr id="31" name="shape_152"/>
          <p:cNvSpPr/>
          <p:nvPr/>
        </p:nvSpPr>
        <p:spPr>
          <a:xfrm>
            <a:off x="7086600" y="2926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_153" descr="Python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0219" y="3079699"/>
            <a:ext cx="332842" cy="332842"/>
          </a:xfrm>
          <a:prstGeom prst="rect">
            <a:avLst/>
          </a:prstGeom>
        </p:spPr>
      </p:pic>
      <p:sp>
        <p:nvSpPr>
          <p:cNvPr id="33" name="text_154"/>
          <p:cNvSpPr txBox="1"/>
          <p:nvPr/>
        </p:nvSpPr>
        <p:spPr>
          <a:xfrm>
            <a:off x="6126480" y="3730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Python + Pandas</a:t>
            </a:r>
            <a:endParaRPr lang="en-US" sz="1800" dirty="0"/>
          </a:p>
        </p:txBody>
      </p:sp>
      <p:sp>
        <p:nvSpPr>
          <p:cNvPr id="34" name="text_155"/>
          <p:cNvSpPr txBox="1"/>
          <p:nvPr/>
        </p:nvSpPr>
        <p:spPr>
          <a:xfrm>
            <a:off x="62179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3F0"/>
                </a:solidFill>
              </a:rPr>
              <a:t>A simple, repeatable prep workflow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SQL Analysis – Extracting Insights</a:t>
            </a:r>
            <a:endParaRPr lang="en-US" sz="2800" dirty="0"/>
          </a:p>
        </p:txBody>
      </p:sp>
      <p:sp>
        <p:nvSpPr>
          <p:cNvPr id="3" name="shape_156"/>
          <p:cNvSpPr/>
          <p:nvPr/>
        </p:nvSpPr>
        <p:spPr>
          <a:xfrm>
            <a:off x="457200" y="109728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0A1A30"/>
          </a:solidFill>
          <a:ln/>
        </p:spPr>
      </p:sp>
      <p:sp>
        <p:nvSpPr>
          <p:cNvPr id="4" name="shape_157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shape_158"/>
          <p:cNvSpPr/>
          <p:nvPr/>
        </p:nvSpPr>
        <p:spPr>
          <a:xfrm>
            <a:off x="804672" y="12252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shape_159"/>
          <p:cNvSpPr/>
          <p:nvPr/>
        </p:nvSpPr>
        <p:spPr>
          <a:xfrm>
            <a:off x="969264" y="12252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" name="text_160"/>
          <p:cNvSpPr txBox="1"/>
          <p:nvPr/>
        </p:nvSpPr>
        <p:spPr>
          <a:xfrm>
            <a:off x="1234440" y="1188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3C8"/>
                </a:solidFill>
              </a:rPr>
              <a:t>query.sql  –  example (illustrative)</a:t>
            </a:r>
            <a:endParaRPr lang="en-US" sz="1000" dirty="0"/>
          </a:p>
        </p:txBody>
      </p:sp>
      <p:sp>
        <p:nvSpPr>
          <p:cNvPr id="8" name="text_161"/>
          <p:cNvSpPr txBox="1"/>
          <p:nvPr/>
        </p:nvSpPr>
        <p:spPr>
          <a:xfrm>
            <a:off x="640080" y="15544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purchases,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(purchase_amount) </a:t>
            </a: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avg_amount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shopping_data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purchases </a:t>
            </a:r>
            <a:r>
              <a:rPr lang="en-US" sz="12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r>
              <a:rPr lang="en-US" sz="1200" dirty="0">
                <a:solidFill>
                  <a:srgbClr val="E6EE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9" name="text_162"/>
          <p:cNvSpPr txBox="1"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SQL Server was used for</a:t>
            </a:r>
            <a:endParaRPr lang="en-US" sz="1600" dirty="0"/>
          </a:p>
        </p:txBody>
      </p:sp>
      <p:sp>
        <p:nvSpPr>
          <p:cNvPr id="10" name="text_163"/>
          <p:cNvSpPr txBox="1"/>
          <p:nvPr/>
        </p:nvSpPr>
        <p:spPr>
          <a:xfrm>
            <a:off x="4937760" y="14630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Purchasing patterns by customer group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Popular products and categories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Purchase amount by discount usage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Subscription and payment preferences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Previous purchases and repeat buying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queries to extract insights</a:t>
            </a:r>
            <a:endParaRPr lang="en-US" sz="1400" dirty="0"/>
          </a:p>
        </p:txBody>
      </p:sp>
      <p:sp>
        <p:nvSpPr>
          <p:cNvPr id="11" name="shape_164"/>
          <p:cNvSpPr/>
          <p:nvPr/>
        </p:nvSpPr>
        <p:spPr>
          <a:xfrm>
            <a:off x="457200" y="361188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2" name="text_165"/>
          <p:cNvSpPr txBox="1"/>
          <p:nvPr/>
        </p:nvSpPr>
        <p:spPr>
          <a:xfrm>
            <a:off x="50292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Prepared Data</a:t>
            </a:r>
            <a:endParaRPr lang="en-US" sz="1400" dirty="0"/>
          </a:p>
        </p:txBody>
      </p:sp>
      <p:pic>
        <p:nvPicPr>
          <p:cNvPr id="13" name="icon_166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3840480"/>
            <a:ext cx="182880" cy="182880"/>
          </a:xfrm>
          <a:prstGeom prst="rect">
            <a:avLst/>
          </a:prstGeom>
        </p:spPr>
      </p:pic>
      <p:sp>
        <p:nvSpPr>
          <p:cNvPr id="14" name="shape_167"/>
          <p:cNvSpPr/>
          <p:nvPr/>
        </p:nvSpPr>
        <p:spPr>
          <a:xfrm>
            <a:off x="2560320" y="361188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5" name="text_168"/>
          <p:cNvSpPr txBox="1"/>
          <p:nvPr/>
        </p:nvSpPr>
        <p:spPr>
          <a:xfrm>
            <a:off x="260604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SQL Queries</a:t>
            </a:r>
            <a:endParaRPr lang="en-US" sz="1400" dirty="0"/>
          </a:p>
        </p:txBody>
      </p:sp>
      <p:pic>
        <p:nvPicPr>
          <p:cNvPr id="16" name="icon_169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840480"/>
            <a:ext cx="182880" cy="182880"/>
          </a:xfrm>
          <a:prstGeom prst="rect">
            <a:avLst/>
          </a:prstGeom>
        </p:spPr>
      </p:pic>
      <p:sp>
        <p:nvSpPr>
          <p:cNvPr id="17" name="shape_170"/>
          <p:cNvSpPr/>
          <p:nvPr/>
        </p:nvSpPr>
        <p:spPr>
          <a:xfrm>
            <a:off x="4663440" y="361188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8" name="text_171"/>
          <p:cNvSpPr txBox="1"/>
          <p:nvPr/>
        </p:nvSpPr>
        <p:spPr>
          <a:xfrm>
            <a:off x="470916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Aggregated Results</a:t>
            </a:r>
            <a:endParaRPr lang="en-US" sz="1400" dirty="0"/>
          </a:p>
        </p:txBody>
      </p:sp>
      <p:pic>
        <p:nvPicPr>
          <p:cNvPr id="19" name="icon_172" descr="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840480"/>
            <a:ext cx="182880" cy="182880"/>
          </a:xfrm>
          <a:prstGeom prst="rect">
            <a:avLst/>
          </a:prstGeom>
        </p:spPr>
      </p:pic>
      <p:sp>
        <p:nvSpPr>
          <p:cNvPr id="20" name="shape_173"/>
          <p:cNvSpPr/>
          <p:nvPr/>
        </p:nvSpPr>
        <p:spPr>
          <a:xfrm>
            <a:off x="6766560" y="361188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21" name="text_174"/>
          <p:cNvSpPr txBox="1"/>
          <p:nvPr/>
        </p:nvSpPr>
        <p:spPr>
          <a:xfrm>
            <a:off x="681228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Business Insights</a:t>
            </a:r>
            <a:endParaRPr lang="en-US" sz="1400" dirty="0"/>
          </a:p>
        </p:txBody>
      </p:sp>
      <p:sp>
        <p:nvSpPr>
          <p:cNvPr id="22" name="text_175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Example query shown for illustration only; no results are reported here.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0B1F3A"/>
                </a:solidFill>
              </a:rPr>
              <a:t>Power BI Dashboard – Customer Behavior</a:t>
            </a:r>
            <a:endParaRPr lang="en-US" sz="2000" u="sng" dirty="0"/>
          </a:p>
        </p:txBody>
      </p:sp>
      <p:sp>
        <p:nvSpPr>
          <p:cNvPr id="36" name="text_205"/>
          <p:cNvSpPr txBox="1"/>
          <p:nvPr/>
        </p:nvSpPr>
        <p:spPr>
          <a:xfrm>
            <a:off x="59436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Also covered: demographics, ratings by shipping type, previous purchases, subscription status. All values shown are illustrative.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249057C-A937-78AE-A463-835B74797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70" y="755967"/>
            <a:ext cx="6168683" cy="3343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Key Analysis Areas and Business Insights</a:t>
            </a:r>
            <a:endParaRPr lang="en-US" sz="2800" dirty="0"/>
          </a:p>
        </p:txBody>
      </p:sp>
      <p:sp>
        <p:nvSpPr>
          <p:cNvPr id="3" name="shape_206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shape_207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_208" descr="Product Perform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355141"/>
            <a:ext cx="261518" cy="261518"/>
          </a:xfrm>
          <a:prstGeom prst="rect">
            <a:avLst/>
          </a:prstGeom>
        </p:spPr>
      </p:pic>
      <p:sp>
        <p:nvSpPr>
          <p:cNvPr id="6" name="text_209"/>
          <p:cNvSpPr txBox="1"/>
          <p:nvPr/>
        </p:nvSpPr>
        <p:spPr>
          <a:xfrm>
            <a:off x="1280160" y="1234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Performance</a:t>
            </a:r>
            <a:endParaRPr lang="en-US" sz="1600" dirty="0"/>
          </a:p>
        </p:txBody>
      </p:sp>
      <p:sp>
        <p:nvSpPr>
          <p:cNvPr id="7" name="text_210"/>
          <p:cNvSpPr txBox="1"/>
          <p:nvPr/>
        </p:nvSpPr>
        <p:spPr>
          <a:xfrm>
            <a:off x="64008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Identify popular products and categories to support product planning.</a:t>
            </a:r>
            <a:endParaRPr lang="en-US" sz="1400" dirty="0"/>
          </a:p>
        </p:txBody>
      </p:sp>
      <p:sp>
        <p:nvSpPr>
          <p:cNvPr id="8" name="shape_211"/>
          <p:cNvSpPr/>
          <p:nvPr/>
        </p:nvSpPr>
        <p:spPr>
          <a:xfrm>
            <a:off x="3520440" y="2162556"/>
            <a:ext cx="155448" cy="3520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shape_212"/>
          <p:cNvSpPr/>
          <p:nvPr/>
        </p:nvSpPr>
        <p:spPr>
          <a:xfrm>
            <a:off x="3739896" y="1911096"/>
            <a:ext cx="155448" cy="6035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shape_213"/>
          <p:cNvSpPr/>
          <p:nvPr/>
        </p:nvSpPr>
        <p:spPr>
          <a:xfrm>
            <a:off x="3959352" y="2061972"/>
            <a:ext cx="155448" cy="4526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shape_214"/>
          <p:cNvSpPr/>
          <p:nvPr/>
        </p:nvSpPr>
        <p:spPr>
          <a:xfrm>
            <a:off x="4178808" y="1709928"/>
            <a:ext cx="155448" cy="8046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shape_215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3" name="shape_216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_217" descr="Promotions and Discou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021" y="1355141"/>
            <a:ext cx="261518" cy="261518"/>
          </a:xfrm>
          <a:prstGeom prst="rect">
            <a:avLst/>
          </a:prstGeom>
        </p:spPr>
      </p:pic>
      <p:sp>
        <p:nvSpPr>
          <p:cNvPr id="15" name="text_218"/>
          <p:cNvSpPr txBox="1"/>
          <p:nvPr/>
        </p:nvSpPr>
        <p:spPr>
          <a:xfrm>
            <a:off x="5486400" y="1234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Promotions and Discounts</a:t>
            </a:r>
            <a:endParaRPr lang="en-US" sz="1600" dirty="0"/>
          </a:p>
        </p:txBody>
      </p:sp>
      <p:sp>
        <p:nvSpPr>
          <p:cNvPr id="16" name="text_219"/>
          <p:cNvSpPr txBox="1"/>
          <p:nvPr/>
        </p:nvSpPr>
        <p:spPr>
          <a:xfrm>
            <a:off x="4846320" y="1920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Explore discount usage and its relationship with purchase amounts.</a:t>
            </a:r>
            <a:endParaRPr lang="en-US" sz="1400" dirty="0"/>
          </a:p>
        </p:txBody>
      </p:sp>
      <p:sp>
        <p:nvSpPr>
          <p:cNvPr id="17" name="shape_220"/>
          <p:cNvSpPr/>
          <p:nvPr/>
        </p:nvSpPr>
        <p:spPr>
          <a:xfrm>
            <a:off x="7726680" y="1810512"/>
            <a:ext cx="155448" cy="7040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_221"/>
          <p:cNvSpPr/>
          <p:nvPr/>
        </p:nvSpPr>
        <p:spPr>
          <a:xfrm>
            <a:off x="7946136" y="2061972"/>
            <a:ext cx="155448" cy="4526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shape_222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0" name="shape_223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_224" descr="Customer Behavi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3138221"/>
            <a:ext cx="261518" cy="261518"/>
          </a:xfrm>
          <a:prstGeom prst="rect">
            <a:avLst/>
          </a:prstGeom>
        </p:spPr>
      </p:pic>
      <p:sp>
        <p:nvSpPr>
          <p:cNvPr id="22" name="text_225"/>
          <p:cNvSpPr txBox="1"/>
          <p:nvPr/>
        </p:nvSpPr>
        <p:spPr>
          <a:xfrm>
            <a:off x="128016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Behavior</a:t>
            </a:r>
            <a:endParaRPr lang="en-US" sz="1600" dirty="0"/>
          </a:p>
        </p:txBody>
      </p:sp>
      <p:sp>
        <p:nvSpPr>
          <p:cNvPr id="23" name="text_226"/>
          <p:cNvSpPr txBox="1"/>
          <p:nvPr/>
        </p:nvSpPr>
        <p:spPr>
          <a:xfrm>
            <a:off x="640080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Understand purchasing history, subscription status, and preferences.</a:t>
            </a:r>
            <a:endParaRPr lang="en-US" sz="1400" dirty="0"/>
          </a:p>
        </p:txBody>
      </p:sp>
      <p:sp>
        <p:nvSpPr>
          <p:cNvPr id="24" name="shape_227"/>
          <p:cNvSpPr/>
          <p:nvPr/>
        </p:nvSpPr>
        <p:spPr>
          <a:xfrm>
            <a:off x="3520440" y="3895344"/>
            <a:ext cx="155448" cy="4023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hape_228"/>
          <p:cNvSpPr/>
          <p:nvPr/>
        </p:nvSpPr>
        <p:spPr>
          <a:xfrm>
            <a:off x="3739896" y="3744468"/>
            <a:ext cx="155448" cy="55321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shape_229"/>
          <p:cNvSpPr/>
          <p:nvPr/>
        </p:nvSpPr>
        <p:spPr>
          <a:xfrm>
            <a:off x="3959352" y="3995928"/>
            <a:ext cx="155448" cy="3017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shape_230"/>
          <p:cNvSpPr/>
          <p:nvPr/>
        </p:nvSpPr>
        <p:spPr>
          <a:xfrm>
            <a:off x="4178808" y="3643884"/>
            <a:ext cx="155448" cy="65379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shape_231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9" name="shape_232"/>
          <p:cNvSpPr/>
          <p:nvPr/>
        </p:nvSpPr>
        <p:spPr>
          <a:xfrm>
            <a:off x="4846320" y="3017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_233" descr="Seasonal Patter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7021" y="3138221"/>
            <a:ext cx="261518" cy="261518"/>
          </a:xfrm>
          <a:prstGeom prst="rect">
            <a:avLst/>
          </a:prstGeom>
        </p:spPr>
      </p:pic>
      <p:sp>
        <p:nvSpPr>
          <p:cNvPr id="31" name="text_234"/>
          <p:cNvSpPr txBox="1"/>
          <p:nvPr/>
        </p:nvSpPr>
        <p:spPr>
          <a:xfrm>
            <a:off x="548640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Seasonal Patterns</a:t>
            </a:r>
            <a:endParaRPr lang="en-US" sz="1600" dirty="0"/>
          </a:p>
        </p:txBody>
      </p:sp>
      <p:sp>
        <p:nvSpPr>
          <p:cNvPr id="32" name="text_235"/>
          <p:cNvSpPr txBox="1"/>
          <p:nvPr/>
        </p:nvSpPr>
        <p:spPr>
          <a:xfrm>
            <a:off x="4846320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Compare shopping behavior across seasons to plan promotions and inventory.</a:t>
            </a:r>
            <a:endParaRPr lang="en-US" sz="1400" dirty="0"/>
          </a:p>
        </p:txBody>
      </p:sp>
      <p:sp>
        <p:nvSpPr>
          <p:cNvPr id="33" name="shape_236"/>
          <p:cNvSpPr/>
          <p:nvPr/>
        </p:nvSpPr>
        <p:spPr>
          <a:xfrm>
            <a:off x="7726680" y="3794760"/>
            <a:ext cx="155448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shape_237"/>
          <p:cNvSpPr/>
          <p:nvPr/>
        </p:nvSpPr>
        <p:spPr>
          <a:xfrm>
            <a:off x="7946136" y="3643884"/>
            <a:ext cx="155448" cy="6537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5" name="shape_238"/>
          <p:cNvSpPr/>
          <p:nvPr/>
        </p:nvSpPr>
        <p:spPr>
          <a:xfrm>
            <a:off x="8165592" y="3845052"/>
            <a:ext cx="155448" cy="4526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6" name="shape_239"/>
          <p:cNvSpPr/>
          <p:nvPr/>
        </p:nvSpPr>
        <p:spPr>
          <a:xfrm>
            <a:off x="8385048" y="3744468"/>
            <a:ext cx="155448" cy="55321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7" name="text_240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Analysis areas and potential insights – not verified results.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</a:rPr>
              <a:t>Business Recommendations</a:t>
            </a:r>
            <a:endParaRPr lang="en-US" sz="2800" dirty="0"/>
          </a:p>
        </p:txBody>
      </p:sp>
      <p:sp>
        <p:nvSpPr>
          <p:cNvPr id="3" name="text_241"/>
          <p:cNvSpPr txBox="1"/>
          <p:nvPr/>
        </p:nvSpPr>
        <p:spPr>
          <a:xfrm>
            <a:off x="1097280" y="1024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RECOMMENDATION</a:t>
            </a:r>
            <a:endParaRPr lang="en-US" sz="1100" dirty="0"/>
          </a:p>
        </p:txBody>
      </p:sp>
      <p:sp>
        <p:nvSpPr>
          <p:cNvPr id="4" name="text_242"/>
          <p:cNvSpPr txBox="1"/>
          <p:nvPr/>
        </p:nvSpPr>
        <p:spPr>
          <a:xfrm>
            <a:off x="3383280" y="1024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ANALYSIS INPUT</a:t>
            </a:r>
            <a:endParaRPr lang="en-US" sz="1100" dirty="0"/>
          </a:p>
        </p:txBody>
      </p:sp>
      <p:sp>
        <p:nvSpPr>
          <p:cNvPr id="5" name="text_243"/>
          <p:cNvSpPr txBox="1"/>
          <p:nvPr/>
        </p:nvSpPr>
        <p:spPr>
          <a:xfrm>
            <a:off x="5989320" y="1024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5"/>
                </a:solidFill>
              </a:rPr>
              <a:t>BUSINESS ACTION</a:t>
            </a:r>
            <a:endParaRPr lang="en-US" sz="1100" dirty="0"/>
          </a:p>
        </p:txBody>
      </p:sp>
      <p:sp>
        <p:nvSpPr>
          <p:cNvPr id="6" name="shape_244"/>
          <p:cNvSpPr/>
          <p:nvPr/>
        </p:nvSpPr>
        <p:spPr>
          <a:xfrm>
            <a:off x="457200" y="129844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7" name="shape_245"/>
          <p:cNvSpPr/>
          <p:nvPr/>
        </p:nvSpPr>
        <p:spPr>
          <a:xfrm>
            <a:off x="548640" y="13716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_246" descr="Personalized Marke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472550"/>
            <a:ext cx="218724" cy="218724"/>
          </a:xfrm>
          <a:prstGeom prst="rect">
            <a:avLst/>
          </a:prstGeom>
        </p:spPr>
      </p:pic>
      <p:sp>
        <p:nvSpPr>
          <p:cNvPr id="9" name="text_247"/>
          <p:cNvSpPr txBox="1"/>
          <p:nvPr/>
        </p:nvSpPr>
        <p:spPr>
          <a:xfrm>
            <a:off x="1097280" y="12984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Personalized Marketing</a:t>
            </a:r>
            <a:endParaRPr lang="en-US" sz="1400" dirty="0"/>
          </a:p>
        </p:txBody>
      </p:sp>
      <p:sp>
        <p:nvSpPr>
          <p:cNvPr id="10" name="text_248"/>
          <p:cNvSpPr txBox="1"/>
          <p:nvPr/>
        </p:nvSpPr>
        <p:spPr>
          <a:xfrm>
            <a:off x="3383280" y="12984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Customer preferences and purchasing patterns</a:t>
            </a:r>
            <a:endParaRPr lang="en-US" sz="1200" dirty="0"/>
          </a:p>
        </p:txBody>
      </p:sp>
      <p:pic>
        <p:nvPicPr>
          <p:cNvPr id="11" name="icon_249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490472"/>
            <a:ext cx="182880" cy="182880"/>
          </a:xfrm>
          <a:prstGeom prst="rect">
            <a:avLst/>
          </a:prstGeom>
        </p:spPr>
      </p:pic>
      <p:sp>
        <p:nvSpPr>
          <p:cNvPr id="12" name="text_250"/>
          <p:cNvSpPr txBox="1"/>
          <p:nvPr/>
        </p:nvSpPr>
        <p:spPr>
          <a:xfrm>
            <a:off x="5989320" y="12984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Design more relevant promotional campaigns</a:t>
            </a:r>
            <a:endParaRPr lang="en-US" sz="1400" dirty="0"/>
          </a:p>
        </p:txBody>
      </p:sp>
      <p:sp>
        <p:nvSpPr>
          <p:cNvPr id="13" name="shape_251"/>
          <p:cNvSpPr/>
          <p:nvPr/>
        </p:nvSpPr>
        <p:spPr>
          <a:xfrm>
            <a:off x="457200" y="193852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14" name="shape_252"/>
          <p:cNvSpPr/>
          <p:nvPr/>
        </p:nvSpPr>
        <p:spPr>
          <a:xfrm>
            <a:off x="548640" y="2011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_253" descr="Product Plan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2112630"/>
            <a:ext cx="218724" cy="218724"/>
          </a:xfrm>
          <a:prstGeom prst="rect">
            <a:avLst/>
          </a:prstGeom>
        </p:spPr>
      </p:pic>
      <p:sp>
        <p:nvSpPr>
          <p:cNvPr id="16" name="text_254"/>
          <p:cNvSpPr txBox="1"/>
          <p:nvPr/>
        </p:nvSpPr>
        <p:spPr>
          <a:xfrm>
            <a:off x="1097280" y="1938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 Planning</a:t>
            </a:r>
            <a:endParaRPr lang="en-US" sz="1400" dirty="0"/>
          </a:p>
        </p:txBody>
      </p:sp>
      <p:sp>
        <p:nvSpPr>
          <p:cNvPr id="17" name="text_255"/>
          <p:cNvSpPr txBox="1"/>
          <p:nvPr/>
        </p:nvSpPr>
        <p:spPr>
          <a:xfrm>
            <a:off x="3383280" y="19385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Product popularity by category</a:t>
            </a:r>
            <a:endParaRPr lang="en-US" sz="1200" dirty="0"/>
          </a:p>
        </p:txBody>
      </p:sp>
      <p:pic>
        <p:nvPicPr>
          <p:cNvPr id="18" name="icon_256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130552"/>
            <a:ext cx="182880" cy="182880"/>
          </a:xfrm>
          <a:prstGeom prst="rect">
            <a:avLst/>
          </a:prstGeom>
        </p:spPr>
      </p:pic>
      <p:sp>
        <p:nvSpPr>
          <p:cNvPr id="19" name="text_257"/>
          <p:cNvSpPr txBox="1"/>
          <p:nvPr/>
        </p:nvSpPr>
        <p:spPr>
          <a:xfrm>
            <a:off x="5989320" y="193852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 inventory and assortment decisions</a:t>
            </a:r>
            <a:endParaRPr lang="en-US" sz="1400" dirty="0"/>
          </a:p>
        </p:txBody>
      </p:sp>
      <p:sp>
        <p:nvSpPr>
          <p:cNvPr id="20" name="shape_258"/>
          <p:cNvSpPr/>
          <p:nvPr/>
        </p:nvSpPr>
        <p:spPr>
          <a:xfrm>
            <a:off x="457200" y="257860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1" name="shape_259"/>
          <p:cNvSpPr/>
          <p:nvPr/>
        </p:nvSpPr>
        <p:spPr>
          <a:xfrm>
            <a:off x="548640" y="26517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con_260" descr="Discount Optimiz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2752710"/>
            <a:ext cx="218724" cy="218724"/>
          </a:xfrm>
          <a:prstGeom prst="rect">
            <a:avLst/>
          </a:prstGeom>
        </p:spPr>
      </p:pic>
      <p:sp>
        <p:nvSpPr>
          <p:cNvPr id="23" name="text_261"/>
          <p:cNvSpPr txBox="1"/>
          <p:nvPr/>
        </p:nvSpPr>
        <p:spPr>
          <a:xfrm>
            <a:off x="1097280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Discount Optimization</a:t>
            </a:r>
            <a:endParaRPr lang="en-US" sz="1400" dirty="0"/>
          </a:p>
        </p:txBody>
      </p:sp>
      <p:sp>
        <p:nvSpPr>
          <p:cNvPr id="24" name="text_262"/>
          <p:cNvSpPr txBox="1"/>
          <p:nvPr/>
        </p:nvSpPr>
        <p:spPr>
          <a:xfrm>
            <a:off x="3383280" y="2578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Discount usage patterns</a:t>
            </a:r>
            <a:endParaRPr lang="en-US" sz="1200" dirty="0"/>
          </a:p>
        </p:txBody>
      </p:sp>
      <p:pic>
        <p:nvPicPr>
          <p:cNvPr id="25" name="icon_263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770632"/>
            <a:ext cx="182880" cy="182880"/>
          </a:xfrm>
          <a:prstGeom prst="rect">
            <a:avLst/>
          </a:prstGeom>
        </p:spPr>
      </p:pic>
      <p:sp>
        <p:nvSpPr>
          <p:cNvPr id="26" name="text_264"/>
          <p:cNvSpPr txBox="1"/>
          <p:nvPr/>
        </p:nvSpPr>
        <p:spPr>
          <a:xfrm>
            <a:off x="5989320" y="25786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Find where promotions may help most</a:t>
            </a:r>
            <a:endParaRPr lang="en-US" sz="1400" dirty="0"/>
          </a:p>
        </p:txBody>
      </p:sp>
      <p:sp>
        <p:nvSpPr>
          <p:cNvPr id="27" name="shape_265"/>
          <p:cNvSpPr/>
          <p:nvPr/>
        </p:nvSpPr>
        <p:spPr>
          <a:xfrm>
            <a:off x="457200" y="321868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/>
        </p:spPr>
      </p:sp>
      <p:sp>
        <p:nvSpPr>
          <p:cNvPr id="28" name="shape_266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_267" descr="Customer Loyalt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3392790"/>
            <a:ext cx="218724" cy="218724"/>
          </a:xfrm>
          <a:prstGeom prst="rect">
            <a:avLst/>
          </a:prstGeom>
        </p:spPr>
      </p:pic>
      <p:sp>
        <p:nvSpPr>
          <p:cNvPr id="30" name="text_268"/>
          <p:cNvSpPr txBox="1"/>
          <p:nvPr/>
        </p:nvSpPr>
        <p:spPr>
          <a:xfrm>
            <a:off x="1097280" y="3218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 Loyalty</a:t>
            </a:r>
            <a:endParaRPr lang="en-US" sz="1400" dirty="0"/>
          </a:p>
        </p:txBody>
      </p:sp>
      <p:sp>
        <p:nvSpPr>
          <p:cNvPr id="31" name="text_269"/>
          <p:cNvSpPr txBox="1"/>
          <p:nvPr/>
        </p:nvSpPr>
        <p:spPr>
          <a:xfrm>
            <a:off x="3383280" y="321868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Previous purchases and frequency</a:t>
            </a:r>
            <a:endParaRPr lang="en-US" sz="1200" dirty="0"/>
          </a:p>
        </p:txBody>
      </p:sp>
      <p:pic>
        <p:nvPicPr>
          <p:cNvPr id="32" name="icon_270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410712"/>
            <a:ext cx="182880" cy="182880"/>
          </a:xfrm>
          <a:prstGeom prst="rect">
            <a:avLst/>
          </a:prstGeom>
        </p:spPr>
      </p:pic>
      <p:sp>
        <p:nvSpPr>
          <p:cNvPr id="33" name="text_271"/>
          <p:cNvSpPr txBox="1"/>
          <p:nvPr/>
        </p:nvSpPr>
        <p:spPr>
          <a:xfrm>
            <a:off x="5989320" y="321868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Encourage repeat purchases with relevant offers</a:t>
            </a:r>
            <a:endParaRPr lang="en-US" sz="1400" dirty="0"/>
          </a:p>
        </p:txBody>
      </p:sp>
      <p:sp>
        <p:nvSpPr>
          <p:cNvPr id="34" name="shape_272"/>
          <p:cNvSpPr/>
          <p:nvPr/>
        </p:nvSpPr>
        <p:spPr>
          <a:xfrm>
            <a:off x="457200" y="385876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35" name="shape_273"/>
          <p:cNvSpPr/>
          <p:nvPr/>
        </p:nvSpPr>
        <p:spPr>
          <a:xfrm>
            <a:off x="548640" y="39319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_274" descr="Seasonal Plann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590" y="4032870"/>
            <a:ext cx="218724" cy="218724"/>
          </a:xfrm>
          <a:prstGeom prst="rect">
            <a:avLst/>
          </a:prstGeom>
        </p:spPr>
      </p:pic>
      <p:sp>
        <p:nvSpPr>
          <p:cNvPr id="37" name="text_275"/>
          <p:cNvSpPr txBox="1"/>
          <p:nvPr/>
        </p:nvSpPr>
        <p:spPr>
          <a:xfrm>
            <a:off x="1097280" y="3858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Seasonal Planning</a:t>
            </a:r>
            <a:endParaRPr lang="en-US" sz="1400" dirty="0"/>
          </a:p>
        </p:txBody>
      </p:sp>
      <p:sp>
        <p:nvSpPr>
          <p:cNvPr id="38" name="text_276"/>
          <p:cNvSpPr txBox="1"/>
          <p:nvPr/>
        </p:nvSpPr>
        <p:spPr>
          <a:xfrm>
            <a:off x="3383280" y="38587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Seasonal purchasing patterns</a:t>
            </a:r>
            <a:endParaRPr lang="en-US" sz="1200" dirty="0"/>
          </a:p>
        </p:txBody>
      </p:sp>
      <p:pic>
        <p:nvPicPr>
          <p:cNvPr id="39" name="icon_277" descr="leads 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050792"/>
            <a:ext cx="182880" cy="182880"/>
          </a:xfrm>
          <a:prstGeom prst="rect">
            <a:avLst/>
          </a:prstGeom>
        </p:spPr>
      </p:pic>
      <p:sp>
        <p:nvSpPr>
          <p:cNvPr id="40" name="text_278"/>
          <p:cNvSpPr txBox="1"/>
          <p:nvPr/>
        </p:nvSpPr>
        <p:spPr>
          <a:xfrm>
            <a:off x="5989320" y="38587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Time campaigns and plan products by season</a:t>
            </a:r>
            <a:endParaRPr lang="en-US" sz="1400" dirty="0"/>
          </a:p>
        </p:txBody>
      </p:sp>
      <p:sp>
        <p:nvSpPr>
          <p:cNvPr id="41" name="text_279"/>
          <p:cNvSpPr txBox="1"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Recommendations based on the analysis framework – not proven business outcomes.</a:t>
            </a:r>
            <a:endParaRPr lang="en-US" sz="11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B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and Future Scope</a:t>
            </a:r>
            <a:endParaRPr lang="en-US" sz="2800" dirty="0"/>
          </a:p>
        </p:txBody>
      </p:sp>
      <p:sp>
        <p:nvSpPr>
          <p:cNvPr id="3" name="shape_280"/>
          <p:cNvSpPr/>
          <p:nvPr/>
        </p:nvSpPr>
        <p:spPr>
          <a:xfrm>
            <a:off x="457200" y="1051560"/>
            <a:ext cx="4023360" cy="2788920"/>
          </a:xfrm>
          <a:prstGeom prst="roundRect">
            <a:avLst>
              <a:gd name="adj" fmla="val 3279"/>
            </a:avLst>
          </a:prstGeom>
          <a:solidFill>
            <a:schemeClr val="tx2"/>
          </a:solidFill>
          <a:ln/>
        </p:spPr>
      </p:sp>
      <p:sp>
        <p:nvSpPr>
          <p:cNvPr id="4" name="text_281"/>
          <p:cNvSpPr txBox="1"/>
          <p:nvPr/>
        </p:nvSpPr>
        <p:spPr>
          <a:xfrm>
            <a:off x="64008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5" name="text_282"/>
          <p:cNvSpPr txBox="1"/>
          <p:nvPr/>
        </p:nvSpPr>
        <p:spPr>
          <a:xfrm>
            <a:off x="640080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explored and prepared the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SQL Server structured and analyzed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Power BI visualized purchasing patterns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Helps the business understand customers and decide with confidence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foundation for marketing, product planning, and engagement</a:t>
            </a:r>
            <a:endParaRPr lang="en-US" sz="1400" dirty="0"/>
          </a:p>
        </p:txBody>
      </p:sp>
      <p:sp>
        <p:nvSpPr>
          <p:cNvPr id="6" name="shape_283"/>
          <p:cNvSpPr/>
          <p:nvPr/>
        </p:nvSpPr>
        <p:spPr>
          <a:xfrm>
            <a:off x="4663440" y="1051560"/>
            <a:ext cx="4023360" cy="2788920"/>
          </a:xfrm>
          <a:prstGeom prst="roundRect">
            <a:avLst>
              <a:gd name="adj" fmla="val 3279"/>
            </a:avLst>
          </a:prstGeom>
          <a:solidFill>
            <a:schemeClr val="tx2"/>
          </a:solidFill>
          <a:ln/>
        </p:spPr>
      </p:sp>
      <p:sp>
        <p:nvSpPr>
          <p:cNvPr id="7" name="text_284"/>
          <p:cNvSpPr txBox="1"/>
          <p:nvPr/>
        </p:nvSpPr>
        <p:spPr>
          <a:xfrm>
            <a:off x="484632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8" name="text_285"/>
          <p:cNvSpPr txBox="1"/>
          <p:nvPr/>
        </p:nvSpPr>
        <p:spPr>
          <a:xfrm>
            <a:off x="4846320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Customer segmentation models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Predictive analytics for purchase behavior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Advanced customer loyalty analysis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sales-channel data (online/offline), if available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Automated data refresh and dashboard reporting</a:t>
            </a:r>
            <a:endParaRPr lang="en-US" sz="1400" dirty="0"/>
          </a:p>
        </p:txBody>
      </p:sp>
      <p:sp>
        <p:nvSpPr>
          <p:cNvPr id="9" name="shape_286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pic>
        <p:nvPicPr>
          <p:cNvPr id="10" name="icon_287" descr="Shopping ba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78808"/>
            <a:ext cx="365760" cy="365760"/>
          </a:xfrm>
          <a:prstGeom prst="rect">
            <a:avLst/>
          </a:prstGeom>
        </p:spPr>
      </p:pic>
      <p:sp>
        <p:nvSpPr>
          <p:cNvPr id="11" name="text_288"/>
          <p:cNvSpPr txBox="1"/>
          <p:nvPr/>
        </p:nvSpPr>
        <p:spPr>
          <a:xfrm>
            <a:off x="1188720" y="4023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Thank You – Turning Data into Better Retail Decisions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FB3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Analytics">
  <a:themeElements>
    <a:clrScheme name="Retail Analytics">
      <a:dk1>
        <a:srgbClr val="0B1F3A"/>
      </a:dk1>
      <a:lt1>
        <a:srgbClr val="FFFFFF"/>
      </a:lt1>
      <a:dk2>
        <a:srgbClr val="12305A"/>
      </a:dk2>
      <a:lt2>
        <a:srgbClr val="F2F6FA"/>
      </a:lt2>
      <a:accent1>
        <a:srgbClr val="0FA3A3"/>
      </a:accent1>
      <a:accent2>
        <a:srgbClr val="F28C28"/>
      </a:accent2>
      <a:accent3>
        <a:srgbClr val="1F6FB2"/>
      </a:accent3>
      <a:accent4>
        <a:srgbClr val="7FD1CF"/>
      </a:accent4>
      <a:accent5>
        <a:srgbClr val="5B6B80"/>
      </a:accent5>
      <a:accent6>
        <a:srgbClr val="D9E3EE"/>
      </a:accent6>
      <a:hlink>
        <a:srgbClr val="1F6FB2"/>
      </a:hlink>
      <a:folHlink>
        <a:srgbClr val="5B6B80"/>
      </a:folHlink>
    </a:clrScheme>
    <a:fontScheme name="Retail Analyt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871</Words>
  <Application>Microsoft Office PowerPoint</Application>
  <PresentationFormat>On-screen Show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Retail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Shopping Behavior Analysis</dc:title>
  <dc:subject>PptxGenJS Presentation</dc:subject>
  <dc:creator>Amol Chavan</dc:creator>
  <cp:lastModifiedBy>Amol Chavan</cp:lastModifiedBy>
  <cp:revision>2</cp:revision>
  <dcterms:created xsi:type="dcterms:W3CDTF">2026-10-09T06:56:21Z</dcterms:created>
  <dcterms:modified xsi:type="dcterms:W3CDTF">2026-10-09T07:00:35Z</dcterms:modified>
</cp:coreProperties>
</file>